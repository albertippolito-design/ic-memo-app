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10"/>
    <p:sldId id="257" r:id="rId11"/>
    <p:sldId id="258" r:id="rId13"/>
    <p:sldId id="259" r:id="rId14"/>
    <p:sldId id="260" r:id="rId15"/>
    <p:sldId id="261"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customXml" Target="../customXml/item1.xml"/><Relationship Id="rId8" Type="http://schemas.openxmlformats.org/officeDocument/2006/relationships/customXml" Target="../customXml/item2.xml"/><Relationship Id="rId9" Type="http://schemas.openxmlformats.org/officeDocument/2006/relationships/customXml" Target="../customXml/item3.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notesMaster" Target="notesMasters/notesMaster1.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Briefly introduce yourself and the purpose of the presentation. Set the stage for discussing how Fastlane can significantly improve mobile app development workflows. Emphasize efficiency and automation.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explain what Fastlane is. Highlight its focus on automation and its open-source nature. Mention the platforms it supports (iOS and Android). Briefly touch upon the community and its role in Fastlane's ecosystem.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the core benefits of Fastlane. Emphasize the reduction in manual work and the impact on release cycles. Highlight the importance of consistency and error reduction. Provide concrete examples of tasks that are automated (e.g., code signing, screenshots generation).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concrete examples of how Fastlane is used in real-world scenarios. Discuss code signing simplification, automated screenshot generation, beta distribution, and app store deployment. Explain how each use case saves time and reduces complexity.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key advantages of Fastlane. Reiterate its positive impact on development efficiency, quality, and time-to-market. Encourage the audience to explore Fastlane further.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371600"/>
          </a:xfrm>
          <a:prstGeom prst="rect">
            <a:avLst/>
          </a:prstGeom>
          <a:noFill/>
        </p:spPr>
        <p:txBody>
          <a:bodyPr wrap="none">
            <a:spAutoFit/>
          </a:bodyPr>
          <a:lstStyle/>
          <a:p>
            <a:pPr algn="ctr">
              <a:defRPr sz="4400" b="1">
                <a:solidFill>
                  <a:srgbClr val="FFFFFF"/>
                </a:solidFill>
              </a:defRPr>
            </a:pPr>
            <a:r>
              <a:t>Advantages of Fastlane: Streamlining Mobile App Development and Deployment</a:t>
            </a:r>
          </a:p>
        </p:txBody>
      </p:sp>
      <p:sp>
        <p:nvSpPr>
          <p:cNvPr id="4" name="TextBox 3"/>
          <p:cNvSpPr txBox="1"/>
          <p:nvPr/>
        </p:nvSpPr>
        <p:spPr>
          <a:xfrm>
            <a:off x="914400" y="3840480"/>
            <a:ext cx="7315200" cy="457200"/>
          </a:xfrm>
          <a:prstGeom prst="rect">
            <a:avLst/>
          </a:prstGeom>
          <a:noFill/>
        </p:spPr>
        <p:txBody>
          <a:bodyPr wrap="none">
            <a:spAutoFit/>
          </a:bodyPr>
          <a:lstStyle/>
          <a:p>
            <a:pPr algn="ctr">
              <a:defRPr sz="2000">
                <a:solidFill>
                  <a:srgbClr val="FFFFFF"/>
                </a:solidFill>
              </a:defRPr>
            </a:pPr>
            <a:r>
              <a:t>AI-Generated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Title Slide: Welcome!</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Advantages of Fastlane</a:t>
            </a:r>
          </a:p>
          <a:p>
            <a:pPr>
              <a:lnSpc>
                <a:spcPct val="120000"/>
              </a:lnSpc>
              <a:spcAft>
                <a:spcPts val="1200"/>
              </a:spcAft>
              <a:defRPr sz="2000">
                <a:solidFill>
                  <a:srgbClr val="323232"/>
                </a:solidFill>
              </a:defRPr>
            </a:pPr>
            <a:r>
              <a:t>• Streamlining Mobile App Development and Deployment</a:t>
            </a:r>
          </a:p>
          <a:p>
            <a:pPr>
              <a:lnSpc>
                <a:spcPct val="120000"/>
              </a:lnSpc>
              <a:spcAft>
                <a:spcPts val="1200"/>
              </a:spcAft>
              <a:defRPr sz="2000">
                <a:solidFill>
                  <a:srgbClr val="323232"/>
                </a:solidFill>
              </a:defRPr>
            </a:pPr>
            <a:r>
              <a:t>• Presented by: [Your Name]</a:t>
            </a:r>
          </a:p>
          <a:p>
            <a:pPr>
              <a:lnSpc>
                <a:spcPct val="120000"/>
              </a:lnSpc>
              <a:spcAft>
                <a:spcPts val="1200"/>
              </a:spcAft>
              <a:defRPr sz="2000">
                <a:solidFill>
                  <a:srgbClr val="323232"/>
                </a:solidFill>
              </a:defRPr>
            </a:pPr>
            <a:r>
              <a:t>• [Your Title/Company]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What is Fastlane?</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Fastlane is an open-source platform aimed at automating tedious tasks in mobile app development.</a:t>
            </a:r>
          </a:p>
          <a:p>
            <a:pPr>
              <a:lnSpc>
                <a:spcPct val="120000"/>
              </a:lnSpc>
              <a:spcAft>
                <a:spcPts val="1200"/>
              </a:spcAft>
              <a:defRPr sz="2000">
                <a:solidFill>
                  <a:srgbClr val="323232"/>
                </a:solidFill>
              </a:defRPr>
            </a:pPr>
            <a:r>
              <a:t>• Automates tasks like building, testing, code signing, and deploying mobile apps (iOS and Android).</a:t>
            </a:r>
          </a:p>
          <a:p>
            <a:pPr>
              <a:lnSpc>
                <a:spcPct val="120000"/>
              </a:lnSpc>
              <a:spcAft>
                <a:spcPts val="1200"/>
              </a:spcAft>
              <a:defRPr sz="2000">
                <a:solidFill>
                  <a:srgbClr val="323232"/>
                </a:solidFill>
              </a:defRPr>
            </a:pPr>
            <a:r>
              <a:t>• Aims to reduce manual errors and significantly speed up the release cycle.</a:t>
            </a:r>
          </a:p>
          <a:p>
            <a:pPr>
              <a:lnSpc>
                <a:spcPct val="120000"/>
              </a:lnSpc>
              <a:spcAft>
                <a:spcPts val="1200"/>
              </a:spcAft>
              <a:defRPr sz="2000">
                <a:solidFill>
                  <a:srgbClr val="323232"/>
                </a:solidFill>
              </a:defRPr>
            </a:pPr>
            <a:r>
              <a:t>• Written in Ruby, with a vast and active community contributing to its development and support.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Key Advantages: Automation &amp; Efficiency</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**Reduced Manual Effort:** Automates repetitive tasks, freeing up developers for more critical work.</a:t>
            </a:r>
          </a:p>
          <a:p>
            <a:pPr>
              <a:lnSpc>
                <a:spcPct val="120000"/>
              </a:lnSpc>
              <a:spcAft>
                <a:spcPts val="1200"/>
              </a:spcAft>
              <a:defRPr sz="2000">
                <a:solidFill>
                  <a:srgbClr val="323232"/>
                </a:solidFill>
              </a:defRPr>
            </a:pPr>
            <a:r>
              <a:t>• **Faster Release Cycles:** Streamlines the build, test, and deployment process, enabling more frequent releases.</a:t>
            </a:r>
          </a:p>
          <a:p>
            <a:pPr>
              <a:lnSpc>
                <a:spcPct val="120000"/>
              </a:lnSpc>
              <a:spcAft>
                <a:spcPts val="1200"/>
              </a:spcAft>
              <a:defRPr sz="2000">
                <a:solidFill>
                  <a:srgbClr val="323232"/>
                </a:solidFill>
              </a:defRPr>
            </a:pPr>
            <a:r>
              <a:t>• **Improved Consistency:** Ensures consistent builds and deployments across different environments.</a:t>
            </a:r>
          </a:p>
          <a:p>
            <a:pPr>
              <a:lnSpc>
                <a:spcPct val="120000"/>
              </a:lnSpc>
              <a:spcAft>
                <a:spcPts val="1200"/>
              </a:spcAft>
              <a:defRPr sz="2000">
                <a:solidFill>
                  <a:srgbClr val="323232"/>
                </a:solidFill>
              </a:defRPr>
            </a:pPr>
            <a:r>
              <a:t>• **Reduced Errors:** Minimizes human error through automated processes, leading to more reliable releases.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Specific Use Cases: Enhanced Workflow</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**Automated Code Signing:** Simplifies the complex process of managing certificates and provisioning profiles.</a:t>
            </a:r>
          </a:p>
          <a:p>
            <a:pPr>
              <a:lnSpc>
                <a:spcPct val="120000"/>
              </a:lnSpc>
              <a:spcAft>
                <a:spcPts val="1200"/>
              </a:spcAft>
              <a:defRPr sz="2000">
                <a:solidFill>
                  <a:srgbClr val="323232"/>
                </a:solidFill>
              </a:defRPr>
            </a:pPr>
            <a:r>
              <a:t>• **Automated Screenshot Generation:** Creates localized screenshots for app store listings with ease.</a:t>
            </a:r>
          </a:p>
          <a:p>
            <a:pPr>
              <a:lnSpc>
                <a:spcPct val="120000"/>
              </a:lnSpc>
              <a:spcAft>
                <a:spcPts val="1200"/>
              </a:spcAft>
              <a:defRPr sz="2000">
                <a:solidFill>
                  <a:srgbClr val="323232"/>
                </a:solidFill>
              </a:defRPr>
            </a:pPr>
            <a:r>
              <a:t>• **Beta Distribution:** Seamlessly distributes builds to beta testers through services like TestFlight and Google Play Beta.</a:t>
            </a:r>
          </a:p>
          <a:p>
            <a:pPr>
              <a:lnSpc>
                <a:spcPct val="120000"/>
              </a:lnSpc>
              <a:spcAft>
                <a:spcPts val="1200"/>
              </a:spcAft>
              <a:defRPr sz="2000">
                <a:solidFill>
                  <a:srgbClr val="323232"/>
                </a:solidFill>
              </a:defRPr>
            </a:pPr>
            <a:r>
              <a:t>• **App Store Deployment:** Automates the submission and release process to the App Store and Google Play Store.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Conclusion: Fastlane - A Developer's Best Friend</a:t>
            </a:r>
          </a:p>
        </p:txBody>
      </p:sp>
      <p:sp>
        <p:nvSpPr>
          <p:cNvPr id="5" name="Rounded Rectangle 4"/>
          <p:cNvSpPr/>
          <p:nvPr/>
        </p:nvSpPr>
        <p:spPr>
          <a:xfrm>
            <a:off x="731520" y="1828800"/>
            <a:ext cx="7680960" cy="4114800"/>
          </a:xfrm>
          <a:prstGeom prst="roundRect">
            <a:avLst/>
          </a:prstGeom>
          <a:solidFill>
            <a:srgbClr val="FFFFFF"/>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7132320" cy="3566160"/>
          </a:xfrm>
          <a:prstGeom prst="rect">
            <a:avLst/>
          </a:prstGeom>
          <a:noFill/>
        </p:spPr>
        <p:txBody>
          <a:bodyPr wrap="square">
            <a:spAutoFit/>
          </a:bodyPr>
          <a:lstStyle/>
          <a:p>
            <a:pPr>
              <a:lnSpc>
                <a:spcPct val="120000"/>
              </a:lnSpc>
              <a:spcAft>
                <a:spcPts val="1200"/>
              </a:spcAft>
              <a:defRPr sz="2000">
                <a:solidFill>
                  <a:srgbClr val="323232"/>
                </a:solidFill>
              </a:defRPr>
            </a:pPr>
            <a:r>
              <a:t>• Fastlane empowers mobile developers to build, test, and deploy apps more efficiently.</a:t>
            </a:r>
          </a:p>
          <a:p>
            <a:pPr>
              <a:lnSpc>
                <a:spcPct val="120000"/>
              </a:lnSpc>
              <a:spcAft>
                <a:spcPts val="1200"/>
              </a:spcAft>
              <a:defRPr sz="2000">
                <a:solidFill>
                  <a:srgbClr val="323232"/>
                </a:solidFill>
              </a:defRPr>
            </a:pPr>
            <a:r>
              <a:t>• Leads to significant time savings, reduced errors, and improved app quality.</a:t>
            </a:r>
          </a:p>
          <a:p>
            <a:pPr>
              <a:lnSpc>
                <a:spcPct val="120000"/>
              </a:lnSpc>
              <a:spcAft>
                <a:spcPts val="1200"/>
              </a:spcAft>
              <a:defRPr sz="2000">
                <a:solidFill>
                  <a:srgbClr val="323232"/>
                </a:solidFill>
              </a:defRPr>
            </a:pPr>
            <a:r>
              <a:t>• Encourages faster iteration and quicker time-to-market.</a:t>
            </a:r>
          </a:p>
          <a:p>
            <a:pPr>
              <a:lnSpc>
                <a:spcPct val="120000"/>
              </a:lnSpc>
              <a:spcAft>
                <a:spcPts val="1200"/>
              </a:spcAft>
              <a:defRPr sz="2000">
                <a:solidFill>
                  <a:srgbClr val="323232"/>
                </a:solidFill>
              </a:defRPr>
            </a:pPr>
            <a:r>
              <a:t>• Start exploring Fastlane today and revolutionize your mobile development workflow!</a:t>
            </a:r>
          </a:p>
          <a:p>
            <a:pPr>
              <a:lnSpc>
                <a:spcPct val="120000"/>
              </a:lnSpc>
              <a:spcAft>
                <a:spcPts val="1200"/>
              </a:spcAft>
              <a:defRPr sz="2000">
                <a:solidFill>
                  <a:srgbClr val="323232"/>
                </a:solidFill>
              </a:defRPr>
            </a:pPr>
            <a:r>
              <a:t>•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036DF35FD8744BB1B007EF6D4B0EC1" ma:contentTypeVersion="13" ma:contentTypeDescription="Create a new document." ma:contentTypeScope="" ma:versionID="228b5e43c5324cd46b522cb846e64df6">
  <xsd:schema xmlns:xsd="http://www.w3.org/2001/XMLSchema" xmlns:xs="http://www.w3.org/2001/XMLSchema" xmlns:p="http://schemas.microsoft.com/office/2006/metadata/properties" xmlns:ns2="faf58d24-3177-406b-8be2-0048a92fcbb5" xmlns:ns3="e4a4e8cb-4926-45fc-b429-7bcd77d62385" targetNamespace="http://schemas.microsoft.com/office/2006/metadata/properties" ma:root="true" ma:fieldsID="d07e55b25de7ea65e6c0feab2029ee9b" ns2:_="" ns3:_="">
    <xsd:import namespace="faf58d24-3177-406b-8be2-0048a92fcbb5"/>
    <xsd:import namespace="e4a4e8cb-4926-45fc-b429-7bcd77d623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f58d24-3177-406b-8be2-0048a92fc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fa3ccfe-acb3-4c17-b7fa-3c75389a7bba"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a4e8cb-4926-45fc-b429-7bcd77d6238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47e092c-9216-4ef1-ae59-97c7a2e7049d}" ma:internalName="TaxCatchAll" ma:showField="CatchAllData" ma:web="e4a4e8cb-4926-45fc-b429-7bcd77d623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af58d24-3177-406b-8be2-0048a92fcbb5">
      <Terms xmlns="http://schemas.microsoft.com/office/infopath/2007/PartnerControls"/>
    </lcf76f155ced4ddcb4097134ff3c332f>
    <TaxCatchAll xmlns="e4a4e8cb-4926-45fc-b429-7bcd77d62385" xsi:nil="true"/>
  </documentManagement>
</p:properties>
</file>

<file path=customXml/itemProps1.xml><?xml version="1.0" encoding="utf-8"?>
<ds:datastoreItem xmlns:ds="http://schemas.openxmlformats.org/officeDocument/2006/customXml" ds:itemID="{FD55E174-2566-4798-928E-67765C1CE7E4}"/>
</file>

<file path=customXml/itemProps2.xml><?xml version="1.0" encoding="utf-8"?>
<ds:datastoreItem xmlns:ds="http://schemas.openxmlformats.org/officeDocument/2006/customXml" ds:itemID="{AF25C5EA-CC02-4C99-A3B9-C137A56A78D3}"/>
</file>

<file path=customXml/itemProps3.xml><?xml version="1.0" encoding="utf-8"?>
<ds:datastoreItem xmlns:ds="http://schemas.openxmlformats.org/officeDocument/2006/customXml" ds:itemID="{D0483901-93CF-419A-9628-F6E5520A08A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0x01010023036DF35FD8744BB1B007EF6D4B0EC1</vt:lpwstr>
  </property>
  <property fmtid="{D5CDD505-2E9C-101B-9397-08002B2CF9AE}" pid="3" name="MediaServiceImageTags">
    <vt:lpwstr/>
  </property>
</Properties>
</file>
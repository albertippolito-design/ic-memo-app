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10"/>
    <p:sldId id="257" r:id="rId11"/>
    <p:sldId id="258" r:id="rId13"/>
    <p:sldId id="259" r:id="rId14"/>
    <p:sldId id="260" r:id="rId15"/>
    <p:sldId id="261"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customXml" Target="../customXml/item1.xml"/><Relationship Id="rId8" Type="http://schemas.openxmlformats.org/officeDocument/2006/relationships/customXml" Target="../customXml/item2.xml"/><Relationship Id="rId9" Type="http://schemas.openxmlformats.org/officeDocument/2006/relationships/customXml" Target="../customXml/item3.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notesMaster" Target="notesMasters/notesMaster1.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audience. Briefly introduce yourself and the topic. Emphasize the time-saving and efficiency aspects of Fastlane. Set the expectation for a concise overview of its key benefits.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on the core benefit: automation. Highlight the pain points of manual processes and how Fastlane solves them. Mention code signing hell and provisioning profile management as prime examples. Emphasize the positive impact on team collaboration and reduced human error.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focuses on the App Store submission process. Emphasize how Fastlane simplifies metadata management and screenshot generation, which are often tedious tasks. Briefly touch on beta distribution benefits (early feedback, stability). Highlight the overall time savings associated with app store submission.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Shift the focus to code quality and testing. Explain how Fastlane facilitates integration with various testing and code analysis tools. Highlight the benefits of early bug detection and the overall improvement in code quality and maintainability.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key advantages of Fastlane. Reiterate the benefits discussed in previous slides. Emphasize the open-source nature and customization options of Fastlane. End with a strong call to action - encourage the audience to explore and implement Fastlane.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1371600"/>
          </a:xfrm>
          <a:prstGeom prst="rect">
            <a:avLst/>
          </a:prstGeom>
          <a:noFill/>
        </p:spPr>
        <p:txBody>
          <a:bodyPr wrap="none">
            <a:spAutoFit/>
          </a:bodyPr>
          <a:lstStyle/>
          <a:p>
            <a:pPr algn="ctr">
              <a:defRPr sz="4400" b="1">
                <a:solidFill>
                  <a:srgbClr val="FFFFFF"/>
                </a:solidFill>
              </a:defRPr>
            </a:pPr>
            <a:r>
              <a:t>Fastlane: Streamlining Mobile App Development</a:t>
            </a:r>
          </a:p>
        </p:txBody>
      </p:sp>
      <p:sp>
        <p:nvSpPr>
          <p:cNvPr id="4" name="TextBox 3"/>
          <p:cNvSpPr txBox="1"/>
          <p:nvPr/>
        </p:nvSpPr>
        <p:spPr>
          <a:xfrm>
            <a:off x="914400" y="3840480"/>
            <a:ext cx="7315200" cy="457200"/>
          </a:xfrm>
          <a:prstGeom prst="rect">
            <a:avLst/>
          </a:prstGeom>
          <a:noFill/>
        </p:spPr>
        <p:txBody>
          <a:bodyPr wrap="none">
            <a:spAutoFit/>
          </a:bodyPr>
          <a:lstStyle/>
          <a:p>
            <a:pPr algn="ctr">
              <a:defRPr sz="2000">
                <a:solidFill>
                  <a:srgbClr val="FFFFFF"/>
                </a:solidFill>
              </a:defRPr>
            </a:pPr>
            <a:r>
              <a:t>AI-Generated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9728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8229600" cy="640080"/>
          </a:xfrm>
          <a:prstGeom prst="rect">
            <a:avLst/>
          </a:prstGeom>
          <a:noFill/>
        </p:spPr>
        <p:txBody>
          <a:bodyPr wrap="none">
            <a:spAutoFit/>
          </a:bodyPr>
          <a:lstStyle/>
          <a:p>
            <a:pPr>
              <a:defRPr sz="3200" b="1">
                <a:solidFill>
                  <a:srgbClr val="FFFFFF"/>
                </a:solidFill>
              </a:defRPr>
            </a:pPr>
            <a:r>
              <a:t>Title Slide: Fastlane - Accelerate Your Mobile Workflow</a:t>
            </a:r>
          </a:p>
        </p:txBody>
      </p:sp>
      <p:sp>
        <p:nvSpPr>
          <p:cNvPr id="5" name="Rounded Rectangle 4"/>
          <p:cNvSpPr/>
          <p:nvPr/>
        </p:nvSpPr>
        <p:spPr>
          <a:xfrm>
            <a:off x="731520" y="1828800"/>
            <a:ext cx="7680960" cy="4114800"/>
          </a:xfrm>
          <a:prstGeom prst="roundRect">
            <a:avLst/>
          </a:prstGeom>
          <a:solidFill>
            <a:srgbClr val="FFFFFF"/>
          </a:solidFill>
          <a:ln w="254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7132320" cy="3566160"/>
          </a:xfrm>
          <a:prstGeom prst="rect">
            <a:avLst/>
          </a:prstGeom>
          <a:noFill/>
        </p:spPr>
        <p:txBody>
          <a:bodyPr wrap="square">
            <a:spAutoFit/>
          </a:bodyPr>
          <a:lstStyle/>
          <a:p>
            <a:pPr>
              <a:lnSpc>
                <a:spcPct val="120000"/>
              </a:lnSpc>
              <a:spcAft>
                <a:spcPts val="1200"/>
              </a:spcAft>
              <a:defRPr sz="2000">
                <a:solidFill>
                  <a:srgbClr val="323232"/>
                </a:solidFill>
              </a:defRPr>
            </a:pPr>
            <a:r>
              <a:t>• Presented by: [Your Name]</a:t>
            </a:r>
          </a:p>
          <a:p>
            <a:pPr>
              <a:lnSpc>
                <a:spcPct val="120000"/>
              </a:lnSpc>
              <a:spcAft>
                <a:spcPts val="1200"/>
              </a:spcAft>
              <a:defRPr sz="2000">
                <a:solidFill>
                  <a:srgbClr val="323232"/>
                </a:solidFill>
              </a:defRPr>
            </a:pPr>
            <a:r>
              <a:t>• [Your Job Title/Team]</a:t>
            </a:r>
          </a:p>
          <a:p>
            <a:pPr>
              <a:lnSpc>
                <a:spcPct val="120000"/>
              </a:lnSpc>
              <a:spcAft>
                <a:spcPts val="1200"/>
              </a:spcAft>
              <a:defRPr sz="2000">
                <a:solidFill>
                  <a:srgbClr val="323232"/>
                </a:solidFill>
              </a:defRPr>
            </a:pPr>
            <a:r>
              <a:t>• [Date]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9728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8229600" cy="640080"/>
          </a:xfrm>
          <a:prstGeom prst="rect">
            <a:avLst/>
          </a:prstGeom>
          <a:noFill/>
        </p:spPr>
        <p:txBody>
          <a:bodyPr wrap="none">
            <a:spAutoFit/>
          </a:bodyPr>
          <a:lstStyle/>
          <a:p>
            <a:pPr>
              <a:defRPr sz="3200" b="1">
                <a:solidFill>
                  <a:srgbClr val="FFFFFF"/>
                </a:solidFill>
              </a:defRPr>
            </a:pPr>
            <a:r>
              <a:t>Slide 1: Automated Build &amp; Release Processes</a:t>
            </a:r>
          </a:p>
        </p:txBody>
      </p:sp>
      <p:sp>
        <p:nvSpPr>
          <p:cNvPr id="5" name="Rounded Rectangle 4"/>
          <p:cNvSpPr/>
          <p:nvPr/>
        </p:nvSpPr>
        <p:spPr>
          <a:xfrm>
            <a:off x="731520" y="1828800"/>
            <a:ext cx="7680960" cy="4114800"/>
          </a:xfrm>
          <a:prstGeom prst="roundRect">
            <a:avLst/>
          </a:prstGeom>
          <a:solidFill>
            <a:srgbClr val="FFFFFF"/>
          </a:solidFill>
          <a:ln w="254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7132320" cy="3566160"/>
          </a:xfrm>
          <a:prstGeom prst="rect">
            <a:avLst/>
          </a:prstGeom>
          <a:noFill/>
        </p:spPr>
        <p:txBody>
          <a:bodyPr wrap="square">
            <a:spAutoFit/>
          </a:bodyPr>
          <a:lstStyle/>
          <a:p>
            <a:pPr>
              <a:lnSpc>
                <a:spcPct val="120000"/>
              </a:lnSpc>
              <a:spcAft>
                <a:spcPts val="1200"/>
              </a:spcAft>
              <a:defRPr sz="2000">
                <a:solidFill>
                  <a:srgbClr val="323232"/>
                </a:solidFill>
              </a:defRPr>
            </a:pPr>
            <a:r>
              <a:t>• Eliminate manual build steps: Automate code signing, provisioning profile management, and build number incrementation.</a:t>
            </a:r>
          </a:p>
          <a:p>
            <a:pPr>
              <a:lnSpc>
                <a:spcPct val="120000"/>
              </a:lnSpc>
              <a:spcAft>
                <a:spcPts val="1200"/>
              </a:spcAft>
              <a:defRPr sz="2000">
                <a:solidFill>
                  <a:srgbClr val="323232"/>
                </a:solidFill>
              </a:defRPr>
            </a:pPr>
            <a:r>
              <a:t>• Faster release cycles: Streamline deployment to the App Store, Google Play Store, or internal distribution channels.</a:t>
            </a:r>
          </a:p>
          <a:p>
            <a:pPr>
              <a:lnSpc>
                <a:spcPct val="120000"/>
              </a:lnSpc>
              <a:spcAft>
                <a:spcPts val="1200"/>
              </a:spcAft>
              <a:defRPr sz="2000">
                <a:solidFill>
                  <a:srgbClr val="323232"/>
                </a:solidFill>
              </a:defRPr>
            </a:pPr>
            <a:r>
              <a:t>• Reduce errors: Minimize human error through consistent and repeatable automated processes.</a:t>
            </a:r>
          </a:p>
          <a:p>
            <a:pPr>
              <a:lnSpc>
                <a:spcPct val="120000"/>
              </a:lnSpc>
              <a:spcAft>
                <a:spcPts val="1200"/>
              </a:spcAft>
              <a:defRPr sz="2000">
                <a:solidFill>
                  <a:srgbClr val="323232"/>
                </a:solidFill>
              </a:defRPr>
            </a:pPr>
            <a:r>
              <a:t>• Improved collaboration: Standardize the build and release process for the entire team.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9728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8229600" cy="640080"/>
          </a:xfrm>
          <a:prstGeom prst="rect">
            <a:avLst/>
          </a:prstGeom>
          <a:noFill/>
        </p:spPr>
        <p:txBody>
          <a:bodyPr wrap="none">
            <a:spAutoFit/>
          </a:bodyPr>
          <a:lstStyle/>
          <a:p>
            <a:pPr>
              <a:defRPr sz="3200" b="1">
                <a:solidFill>
                  <a:srgbClr val="FFFFFF"/>
                </a:solidFill>
              </a:defRPr>
            </a:pPr>
            <a:r>
              <a:t>Slide 2: Simplified App Store Submission</a:t>
            </a:r>
          </a:p>
        </p:txBody>
      </p:sp>
      <p:sp>
        <p:nvSpPr>
          <p:cNvPr id="5" name="Rounded Rectangle 4"/>
          <p:cNvSpPr/>
          <p:nvPr/>
        </p:nvSpPr>
        <p:spPr>
          <a:xfrm>
            <a:off x="731520" y="1828800"/>
            <a:ext cx="7680960" cy="4114800"/>
          </a:xfrm>
          <a:prstGeom prst="roundRect">
            <a:avLst/>
          </a:prstGeom>
          <a:solidFill>
            <a:srgbClr val="FFFFFF"/>
          </a:solidFill>
          <a:ln w="254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7132320" cy="3566160"/>
          </a:xfrm>
          <a:prstGeom prst="rect">
            <a:avLst/>
          </a:prstGeom>
          <a:noFill/>
        </p:spPr>
        <p:txBody>
          <a:bodyPr wrap="square">
            <a:spAutoFit/>
          </a:bodyPr>
          <a:lstStyle/>
          <a:p>
            <a:pPr>
              <a:lnSpc>
                <a:spcPct val="120000"/>
              </a:lnSpc>
              <a:spcAft>
                <a:spcPts val="1200"/>
              </a:spcAft>
              <a:defRPr sz="2000">
                <a:solidFill>
                  <a:srgbClr val="323232"/>
                </a:solidFill>
              </a:defRPr>
            </a:pPr>
            <a:r>
              <a:t>• Automated metadata management: Easily update app descriptions, screenshots, and other metadata.</a:t>
            </a:r>
          </a:p>
          <a:p>
            <a:pPr>
              <a:lnSpc>
                <a:spcPct val="120000"/>
              </a:lnSpc>
              <a:spcAft>
                <a:spcPts val="1200"/>
              </a:spcAft>
              <a:defRPr sz="2000">
                <a:solidFill>
                  <a:srgbClr val="323232"/>
                </a:solidFill>
              </a:defRPr>
            </a:pPr>
            <a:r>
              <a:t>• Screenshot automation: Generate localized screenshots for different devices and languages.</a:t>
            </a:r>
          </a:p>
          <a:p>
            <a:pPr>
              <a:lnSpc>
                <a:spcPct val="120000"/>
              </a:lnSpc>
              <a:spcAft>
                <a:spcPts val="1200"/>
              </a:spcAft>
              <a:defRPr sz="2000">
                <a:solidFill>
                  <a:srgbClr val="323232"/>
                </a:solidFill>
              </a:defRPr>
            </a:pPr>
            <a:r>
              <a:t>• Beta distribution: Seamlessly distribute beta builds to TestFlight or Firebase App Distribution.</a:t>
            </a:r>
          </a:p>
          <a:p>
            <a:pPr>
              <a:lnSpc>
                <a:spcPct val="120000"/>
              </a:lnSpc>
              <a:spcAft>
                <a:spcPts val="1200"/>
              </a:spcAft>
              <a:defRPr sz="2000">
                <a:solidFill>
                  <a:srgbClr val="323232"/>
                </a:solidFill>
              </a:defRPr>
            </a:pPr>
            <a:r>
              <a:t>• Reduced submission time: Drastically cut down the time required to prepare and submit apps to app stores.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9728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8229600" cy="640080"/>
          </a:xfrm>
          <a:prstGeom prst="rect">
            <a:avLst/>
          </a:prstGeom>
          <a:noFill/>
        </p:spPr>
        <p:txBody>
          <a:bodyPr wrap="none">
            <a:spAutoFit/>
          </a:bodyPr>
          <a:lstStyle/>
          <a:p>
            <a:pPr>
              <a:defRPr sz="3200" b="1">
                <a:solidFill>
                  <a:srgbClr val="FFFFFF"/>
                </a:solidFill>
              </a:defRPr>
            </a:pPr>
            <a:r>
              <a:t>Slide 3: Enhanced Code Quality &amp; Testing</a:t>
            </a:r>
          </a:p>
        </p:txBody>
      </p:sp>
      <p:sp>
        <p:nvSpPr>
          <p:cNvPr id="5" name="Rounded Rectangle 4"/>
          <p:cNvSpPr/>
          <p:nvPr/>
        </p:nvSpPr>
        <p:spPr>
          <a:xfrm>
            <a:off x="731520" y="1828800"/>
            <a:ext cx="7680960" cy="4114800"/>
          </a:xfrm>
          <a:prstGeom prst="roundRect">
            <a:avLst/>
          </a:prstGeom>
          <a:solidFill>
            <a:srgbClr val="FFFFFF"/>
          </a:solidFill>
          <a:ln w="254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7132320" cy="3566160"/>
          </a:xfrm>
          <a:prstGeom prst="rect">
            <a:avLst/>
          </a:prstGeom>
          <a:noFill/>
        </p:spPr>
        <p:txBody>
          <a:bodyPr wrap="square">
            <a:spAutoFit/>
          </a:bodyPr>
          <a:lstStyle/>
          <a:p>
            <a:pPr>
              <a:lnSpc>
                <a:spcPct val="120000"/>
              </a:lnSpc>
              <a:spcAft>
                <a:spcPts val="1200"/>
              </a:spcAft>
              <a:defRPr sz="2000">
                <a:solidFill>
                  <a:srgbClr val="323232"/>
                </a:solidFill>
              </a:defRPr>
            </a:pPr>
            <a:r>
              <a:t>• Automated code analysis: Integrate with static analysis tools (e.g., SwiftLint, Detekt) to enforce coding standards.</a:t>
            </a:r>
          </a:p>
          <a:p>
            <a:pPr>
              <a:lnSpc>
                <a:spcPct val="120000"/>
              </a:lnSpc>
              <a:spcAft>
                <a:spcPts val="1200"/>
              </a:spcAft>
              <a:defRPr sz="2000">
                <a:solidFill>
                  <a:srgbClr val="323232"/>
                </a:solidFill>
              </a:defRPr>
            </a:pPr>
            <a:r>
              <a:t>• Automated testing: Run unit tests, UI tests, and integration tests automatically as part of the build process.</a:t>
            </a:r>
          </a:p>
          <a:p>
            <a:pPr>
              <a:lnSpc>
                <a:spcPct val="120000"/>
              </a:lnSpc>
              <a:spcAft>
                <a:spcPts val="1200"/>
              </a:spcAft>
              <a:defRPr sz="2000">
                <a:solidFill>
                  <a:srgbClr val="323232"/>
                </a:solidFill>
              </a:defRPr>
            </a:pPr>
            <a:r>
              <a:t>• Early bug detection: Identify and address potential issues before release.</a:t>
            </a:r>
          </a:p>
          <a:p>
            <a:pPr>
              <a:lnSpc>
                <a:spcPct val="120000"/>
              </a:lnSpc>
              <a:spcAft>
                <a:spcPts val="1200"/>
              </a:spcAft>
              <a:defRPr sz="2000">
                <a:solidFill>
                  <a:srgbClr val="323232"/>
                </a:solidFill>
              </a:defRPr>
            </a:pPr>
            <a:r>
              <a:t>• Improved code quality: Enhance code consistency and maintainability through automated checks.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9728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8229600" cy="640080"/>
          </a:xfrm>
          <a:prstGeom prst="rect">
            <a:avLst/>
          </a:prstGeom>
          <a:noFill/>
        </p:spPr>
        <p:txBody>
          <a:bodyPr wrap="none">
            <a:spAutoFit/>
          </a:bodyPr>
          <a:lstStyle/>
          <a:p>
            <a:pPr>
              <a:defRPr sz="3200" b="1">
                <a:solidFill>
                  <a:srgbClr val="FFFFFF"/>
                </a:solidFill>
              </a:defRPr>
            </a:pPr>
            <a:r>
              <a:t>Slide 4: Conclusion - Why Choose Fastlane?</a:t>
            </a:r>
          </a:p>
        </p:txBody>
      </p:sp>
      <p:sp>
        <p:nvSpPr>
          <p:cNvPr id="5" name="Rounded Rectangle 4"/>
          <p:cNvSpPr/>
          <p:nvPr/>
        </p:nvSpPr>
        <p:spPr>
          <a:xfrm>
            <a:off x="731520" y="1828800"/>
            <a:ext cx="7680960" cy="4114800"/>
          </a:xfrm>
          <a:prstGeom prst="roundRect">
            <a:avLst/>
          </a:prstGeom>
          <a:solidFill>
            <a:srgbClr val="FFFFFF"/>
          </a:solidFill>
          <a:ln w="254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7132320" cy="3566160"/>
          </a:xfrm>
          <a:prstGeom prst="rect">
            <a:avLst/>
          </a:prstGeom>
          <a:noFill/>
        </p:spPr>
        <p:txBody>
          <a:bodyPr wrap="square">
            <a:spAutoFit/>
          </a:bodyPr>
          <a:lstStyle/>
          <a:p>
            <a:pPr>
              <a:lnSpc>
                <a:spcPct val="120000"/>
              </a:lnSpc>
              <a:spcAft>
                <a:spcPts val="1200"/>
              </a:spcAft>
              <a:defRPr sz="2000">
                <a:solidFill>
                  <a:srgbClr val="323232"/>
                </a:solidFill>
              </a:defRPr>
            </a:pPr>
            <a:r>
              <a:t>• Increased productivity: Automate repetitive tasks and free up developer time.</a:t>
            </a:r>
          </a:p>
          <a:p>
            <a:pPr>
              <a:lnSpc>
                <a:spcPct val="120000"/>
              </a:lnSpc>
              <a:spcAft>
                <a:spcPts val="1200"/>
              </a:spcAft>
              <a:defRPr sz="2000">
                <a:solidFill>
                  <a:srgbClr val="323232"/>
                </a:solidFill>
              </a:defRPr>
            </a:pPr>
            <a:r>
              <a:t>• Reduced errors: Minimize human error and improve the reliability of the build and release process.</a:t>
            </a:r>
          </a:p>
          <a:p>
            <a:pPr>
              <a:lnSpc>
                <a:spcPct val="120000"/>
              </a:lnSpc>
              <a:spcAft>
                <a:spcPts val="1200"/>
              </a:spcAft>
              <a:defRPr sz="2000">
                <a:solidFill>
                  <a:srgbClr val="323232"/>
                </a:solidFill>
              </a:defRPr>
            </a:pPr>
            <a:r>
              <a:t>• Faster time to market: Accelerate release cycles and get your app to users faster.</a:t>
            </a:r>
          </a:p>
          <a:p>
            <a:pPr>
              <a:lnSpc>
                <a:spcPct val="120000"/>
              </a:lnSpc>
              <a:spcAft>
                <a:spcPts val="1200"/>
              </a:spcAft>
              <a:defRPr sz="2000">
                <a:solidFill>
                  <a:srgbClr val="323232"/>
                </a:solidFill>
              </a:defRPr>
            </a:pPr>
            <a:r>
              <a:t>• Improved collaboration: Standardize workflows and enhance team collaboration.</a:t>
            </a:r>
          </a:p>
          <a:p>
            <a:pPr>
              <a:lnSpc>
                <a:spcPct val="120000"/>
              </a:lnSpc>
              <a:spcAft>
                <a:spcPts val="1200"/>
              </a:spcAft>
              <a:defRPr sz="2000">
                <a:solidFill>
                  <a:srgbClr val="323232"/>
                </a:solidFill>
              </a:defRPr>
            </a:pPr>
            <a:r>
              <a:t>• Open-source and customizable: Tailor Fastlane to your specific needs.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3036DF35FD8744BB1B007EF6D4B0EC1" ma:contentTypeVersion="13" ma:contentTypeDescription="Create a new document." ma:contentTypeScope="" ma:versionID="228b5e43c5324cd46b522cb846e64df6">
  <xsd:schema xmlns:xsd="http://www.w3.org/2001/XMLSchema" xmlns:xs="http://www.w3.org/2001/XMLSchema" xmlns:p="http://schemas.microsoft.com/office/2006/metadata/properties" xmlns:ns2="faf58d24-3177-406b-8be2-0048a92fcbb5" xmlns:ns3="e4a4e8cb-4926-45fc-b429-7bcd77d62385" targetNamespace="http://schemas.microsoft.com/office/2006/metadata/properties" ma:root="true" ma:fieldsID="d07e55b25de7ea65e6c0feab2029ee9b" ns2:_="" ns3:_="">
    <xsd:import namespace="faf58d24-3177-406b-8be2-0048a92fcbb5"/>
    <xsd:import namespace="e4a4e8cb-4926-45fc-b429-7bcd77d623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f58d24-3177-406b-8be2-0048a92fc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5fa3ccfe-acb3-4c17-b7fa-3c75389a7bba"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4a4e8cb-4926-45fc-b429-7bcd77d62385"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947e092c-9216-4ef1-ae59-97c7a2e7049d}" ma:internalName="TaxCatchAll" ma:showField="CatchAllData" ma:web="e4a4e8cb-4926-45fc-b429-7bcd77d6238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af58d24-3177-406b-8be2-0048a92fcbb5">
      <Terms xmlns="http://schemas.microsoft.com/office/infopath/2007/PartnerControls"/>
    </lcf76f155ced4ddcb4097134ff3c332f>
    <TaxCatchAll xmlns="e4a4e8cb-4926-45fc-b429-7bcd77d62385" xsi:nil="true"/>
  </documentManagement>
</p:properties>
</file>

<file path=customXml/itemProps1.xml><?xml version="1.0" encoding="utf-8"?>
<ds:datastoreItem xmlns:ds="http://schemas.openxmlformats.org/officeDocument/2006/customXml" ds:itemID="{FD55E174-2566-4798-928E-67765C1CE7E4}"/>
</file>

<file path=customXml/itemProps2.xml><?xml version="1.0" encoding="utf-8"?>
<ds:datastoreItem xmlns:ds="http://schemas.openxmlformats.org/officeDocument/2006/customXml" ds:itemID="{AF25C5EA-CC02-4C99-A3B9-C137A56A78D3}"/>
</file>

<file path=customXml/itemProps3.xml><?xml version="1.0" encoding="utf-8"?>
<ds:datastoreItem xmlns:ds="http://schemas.openxmlformats.org/officeDocument/2006/customXml" ds:itemID="{D0483901-93CF-419A-9628-F6E5520A08A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0x01010023036DF35FD8744BB1B007EF6D4B0EC1</vt:lpwstr>
  </property>
  <property fmtid="{D5CDD505-2E9C-101B-9397-08002B2CF9AE}" pid="3" name="MediaServiceImageTags">
    <vt:lpwstr/>
  </property>
</Properties>
</file>